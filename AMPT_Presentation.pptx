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63440" y="2834640"/>
            <a:ext cx="109728" cy="14630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457200"/>
            <a:ext cx="2286000" cy="2286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/>
              <a:t>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1280160"/>
            <a:ext cx="6949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4731"/>
                </a:solidFill>
                <a:latin typeface="Calibri"/>
              </a:rPr>
              <a:t>Agricultural Market
Price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29718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A261"/>
                </a:solidFill>
                <a:latin typeface="Calibri"/>
              </a:rPr>
              <a:t>AgriPrice 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356616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COSC 381 — Team Work Project
Chuka University  | 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9260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261"/>
                </a:solidFill>
                <a:latin typeface="Calibri"/>
              </a:rPr>
              <a:t>Group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3291840"/>
            <a:ext cx="4389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indent="-177800" a:marL="304800"/>
            <a:r>
              <a:rPr sz="1000">
                <a:solidFill>
                  <a:srgbClr val="FFFFFF"/>
                </a:solidFill>
                <a:latin typeface="Courier New"/>
              </a:rPr>
              <a:t>Mukanga Lewis Njega       EB1/67232/23</a:t>
            </a:r>
          </a:p>
          <a:p>
            <a:pPr algn="l" a:indent="-177800" a:marL="304800"/>
            <a:r>
              <a:rPr sz="1000">
                <a:solidFill>
                  <a:srgbClr val="FFFFFF"/>
                </a:solidFill>
                <a:latin typeface="Courier New"/>
              </a:rPr>
              <a:t>Muigai Charity Wanjiku    EB1/66861/23</a:t>
            </a:r>
          </a:p>
          <a:p>
            <a:pPr algn="l" a:indent="-177800" a:marL="304800"/>
            <a:r>
              <a:rPr sz="1000">
                <a:solidFill>
                  <a:srgbClr val="FFFFFF"/>
                </a:solidFill>
                <a:latin typeface="Courier New"/>
              </a:rPr>
              <a:t>Mwangi Lucy Ann Muthoni   EB1/66863/23</a:t>
            </a:r>
          </a:p>
          <a:p>
            <a:pPr algn="l" a:indent="-177800" a:marL="304800"/>
            <a:r>
              <a:rPr sz="1000">
                <a:solidFill>
                  <a:srgbClr val="FFFFFF"/>
                </a:solidFill>
                <a:latin typeface="Courier New"/>
              </a:rPr>
              <a:t>Jason Mageto Paul         EB1/66795/23</a:t>
            </a:r>
          </a:p>
          <a:p>
            <a:pPr algn="l" a:indent="-177800" a:marL="304800"/>
            <a:r>
              <a:rPr sz="1000">
                <a:solidFill>
                  <a:srgbClr val="FFFFFF"/>
                </a:solidFill>
                <a:latin typeface="Courier New"/>
              </a:rPr>
              <a:t>Levi Kisaka Wanyonyi      EB1/67362/23</a:t>
            </a:r>
          </a:p>
          <a:p>
            <a:pPr algn="l" a:indent="-177800" a:marL="304800"/>
            <a:r>
              <a:rPr sz="1000">
                <a:solidFill>
                  <a:srgbClr val="FFFFFF"/>
                </a:solidFill>
                <a:latin typeface="Courier New"/>
              </a:rPr>
              <a:t>Oyugi Dominic             EB1/66902/23</a:t>
            </a:r>
          </a:p>
          <a:p>
            <a:pPr algn="l" a:indent="-177800" a:marL="304800"/>
            <a:r>
              <a:rPr sz="1000">
                <a:solidFill>
                  <a:srgbClr val="FFFFFF"/>
                </a:solidFill>
                <a:latin typeface="Courier New"/>
              </a:rPr>
              <a:t>Gloria Ndanu              EB1/66802/23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1052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School of Computing and Informatics  |  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  <a:latin typeface="Calibri"/>
              </a:rPr>
              <a:t>Why do Kenyan farmers need a price tracking system?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3474720" cy="14630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4A261"/>
                </a:solidFill>
                <a:latin typeface="Calibri"/>
              </a:rPr>
              <a:t>10 – 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488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potential income lost per season
by smallholder farmers
(World Bank, 2022)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3017520"/>
            <a:ext cx="3474720" cy="12801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063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4A261"/>
                </a:solidFill>
                <a:latin typeface="Calibri"/>
              </a:rPr>
              <a:t>40%+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6576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of Kenya's population
depend on agriculture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41732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731"/>
                </a:solidFill>
                <a:latin typeface="Calibri"/>
              </a:rPr>
              <a:t>Core Challenges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178308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indent="-177800" a:marL="304800"/>
            <a:r>
              <a:rPr sz="1400">
                <a:solidFill>
                  <a:srgbClr val="333333"/>
                </a:solidFill>
                <a:latin typeface="Calibri"/>
              </a:rPr>
              <a:t>▪  Farmers sell without knowing competing market prices</a:t>
            </a:r>
          </a:p>
          <a:p>
            <a:pPr algn="l" a:indent="-177800" a:marL="304800"/>
            <a:r>
              <a:rPr sz="1400">
                <a:solidFill>
                  <a:srgbClr val="333333"/>
                </a:solidFill>
                <a:latin typeface="Calibri"/>
              </a:rPr>
              <a:t>▪  Middlemen exploit information gaps to underpay farmers</a:t>
            </a:r>
          </a:p>
          <a:p>
            <a:pPr algn="l" a:indent="-177800" a:marL="304800"/>
            <a:r>
              <a:rPr sz="1400">
                <a:solidFill>
                  <a:srgbClr val="333333"/>
                </a:solidFill>
                <a:latin typeface="Calibri"/>
              </a:rPr>
              <a:t>▪  Produce travels unnecessarily — no price signals to guide routing</a:t>
            </a:r>
          </a:p>
          <a:p>
            <a:pPr algn="l" a:indent="-177800" a:marL="304800"/>
            <a:r>
              <a:rPr sz="1400">
                <a:solidFill>
                  <a:srgbClr val="333333"/>
                </a:solidFill>
                <a:latin typeface="Calibri"/>
              </a:rPr>
              <a:t>▪  No real-time, centralised platform for Kenyan market prices</a:t>
            </a:r>
          </a:p>
          <a:p>
            <a:pPr algn="l" a:indent="-177800" a:marL="304800"/>
            <a:r>
              <a:rPr sz="1400">
                <a:solidFill>
                  <a:srgbClr val="333333"/>
                </a:solidFill>
                <a:latin typeface="Calibri"/>
              </a:rPr>
              <a:t>▪  Existing systems: weekly updates, narrow scope, no role-based entry</a:t>
            </a:r>
          </a:p>
          <a:p>
            <a:pPr algn="l" a:indent="-177800" a:marL="304800"/>
            <a:r>
              <a:rPr sz="1400">
                <a:solidFill>
                  <a:srgbClr val="333333"/>
                </a:solidFill>
                <a:latin typeface="Calibri"/>
              </a:rPr>
              <a:t>▪  Government agencies lack timely data for food security decisions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1052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AMPT — Agricultural Market Price Tracker  |  Chuka University  |  COSC 381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Objectives &amp; Research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  <a:latin typeface="Calibri"/>
              </a:rPr>
              <a:t>What the system sets out to achieve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11704320" cy="68580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91440" cy="68580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4731"/>
                </a:solidFill>
                <a:latin typeface="Calibri"/>
              </a:rPr>
              <a:t>General Objective: Design and implement a web-based AMPT system that enables real-time collection, storage, comparison and dissemination of agricultural commodity prices across Kenyan markets, thereby reducing information asymmetry.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194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731"/>
                </a:solidFill>
                <a:latin typeface="Calibri"/>
              </a:rPr>
              <a:t>Specific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514600"/>
            <a:ext cx="5760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indent="-177800" a:marL="304800"/>
            <a:r>
              <a:rPr sz="1200">
                <a:solidFill>
                  <a:srgbClr val="333333"/>
                </a:solidFill>
                <a:latin typeface="Calibri"/>
              </a:rPr>
              <a:t>▪  Analyse stakeholder information needs &amp; derive functional requirements</a:t>
            </a:r>
          </a:p>
          <a:p>
            <a:pPr algn="l" a:indent="-177800" a:marL="304800"/>
            <a:r>
              <a:rPr sz="1200">
                <a:solidFill>
                  <a:srgbClr val="333333"/>
                </a:solidFill>
                <a:latin typeface="Calibri"/>
              </a:rPr>
              <a:t>▪  Design a normalised relational database for price, market &amp; user data</a:t>
            </a:r>
          </a:p>
          <a:p>
            <a:pPr algn="l" a:indent="-177800" a:marL="304800"/>
            <a:r>
              <a:rPr sz="1200">
                <a:solidFill>
                  <a:srgbClr val="333333"/>
                </a:solidFill>
                <a:latin typeface="Calibri"/>
              </a:rPr>
              <a:t>▪  Implement role-based web app (Java Servlets + JSP) with MVC pattern</a:t>
            </a:r>
          </a:p>
          <a:p>
            <a:pPr algn="l" a:indent="-177800" a:marL="304800"/>
            <a:r>
              <a:rPr sz="1200">
                <a:solidFill>
                  <a:srgbClr val="333333"/>
                </a:solidFill>
                <a:latin typeface="Calibri"/>
              </a:rPr>
              <a:t>▪  Build price comparison, trend analysis, alerts &amp; CSV reporting features</a:t>
            </a:r>
          </a:p>
          <a:p>
            <a:pPr algn="l" a:indent="-177800" a:marL="304800"/>
            <a:r>
              <a:rPr sz="1200">
                <a:solidFill>
                  <a:srgbClr val="333333"/>
                </a:solidFill>
                <a:latin typeface="Calibri"/>
              </a:rPr>
              <a:t>▪  Implement &amp; demonstrate search/sort algorithms in Java</a:t>
            </a:r>
          </a:p>
          <a:p>
            <a:pPr algn="l" a:indent="-177800" a:marL="304800"/>
            <a:r>
              <a:rPr sz="1200">
                <a:solidFill>
                  <a:srgbClr val="333333"/>
                </a:solidFill>
                <a:latin typeface="Calibri"/>
              </a:rPr>
              <a:t>▪  Test against functional &amp; non-functional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94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731"/>
                </a:solidFill>
                <a:latin typeface="Calibri"/>
              </a:rPr>
              <a:t>Research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760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indent="-177800" a:marL="304800"/>
            <a:r>
              <a:rPr sz="1200">
                <a:solidFill>
                  <a:srgbClr val="333333"/>
                </a:solidFill>
                <a:latin typeface="Calibri"/>
              </a:rPr>
              <a:t>▪  What features must a price tracker possess for Kenyan farmers?</a:t>
            </a:r>
          </a:p>
          <a:p>
            <a:pPr algn="l" a:indent="-177800" a:marL="304800"/>
            <a:r>
              <a:rPr sz="1200">
                <a:solidFill>
                  <a:srgbClr val="333333"/>
                </a:solidFill>
                <a:latin typeface="Calibri"/>
              </a:rPr>
              <a:t>▪  How to ensure data integrity through role-based access control?</a:t>
            </a:r>
          </a:p>
          <a:p>
            <a:pPr algn="l" a:indent="-177800" a:marL="304800"/>
            <a:r>
              <a:rPr sz="1200">
                <a:solidFill>
                  <a:srgbClr val="333333"/>
                </a:solidFill>
                <a:latin typeface="Calibri"/>
              </a:rPr>
              <a:t>▪  What DB design best supports time-series agricultural price queries?</a:t>
            </a:r>
          </a:p>
          <a:p>
            <a:pPr algn="l" a:indent="-177800" a:marL="304800"/>
            <a:r>
              <a:rPr sz="1200">
                <a:solidFill>
                  <a:srgbClr val="333333"/>
                </a:solidFill>
                <a:latin typeface="Calibri"/>
              </a:rPr>
              <a:t>▪  How effective are configurable price alerts for farmers?</a:t>
            </a:r>
          </a:p>
          <a:p>
            <a:pPr algn="l" a:indent="-177800" a:marL="304800"/>
            <a:r>
              <a:rPr sz="1200">
                <a:solidFill>
                  <a:srgbClr val="333333"/>
                </a:solidFill>
                <a:latin typeface="Calibri"/>
              </a:rPr>
              <a:t>▪  How does trend data influence buying/selling decisions?</a:t>
            </a:r>
          </a:p>
          <a:p>
            <a:pPr algn="l" a:indent="-177800" a:marL="304800"/>
            <a:r>
              <a:rPr sz="1200">
                <a:solidFill>
                  <a:srgbClr val="333333"/>
                </a:solidFill>
                <a:latin typeface="Calibri"/>
              </a:rPr>
              <a:t>▪  What architecture choices balance performance and scalability?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51052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AMPT — Agricultural Market Price Tracker  |  Chuka University  |  COSC 381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  <a:latin typeface="Calibri"/>
              </a:rPr>
              <a:t>What existing systems do — and what they miss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417320"/>
            <a:ext cx="3794760" cy="214884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417320"/>
            <a:ext cx="3794760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453896"/>
            <a:ext cx="3648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ACE (Kenya)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19656"/>
            <a:ext cx="3611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✔ E-trading platform
✘ Excludes smallholders
✘ No trend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85416" y="1417320"/>
            <a:ext cx="3794760" cy="214884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85416" y="1417320"/>
            <a:ext cx="3794760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8568" y="1453896"/>
            <a:ext cx="3648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NAFIS (Kenya)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6856" y="1819656"/>
            <a:ext cx="3611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✔ Free public access
✘ Weekly updates only
✘ No alerts/mobile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7952" y="1417320"/>
            <a:ext cx="3794760" cy="214884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7952" y="1417320"/>
            <a:ext cx="3794760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1104" y="1453896"/>
            <a:ext cx="3648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EAGC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819656"/>
            <a:ext cx="3611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✔ Regional comparisons
✘ Grains only
✘ No user accounts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749039"/>
            <a:ext cx="3794760" cy="214884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3749039"/>
            <a:ext cx="3794760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3785615"/>
            <a:ext cx="3648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Esoko (W. Africa)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151376"/>
            <a:ext cx="3611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✔ SMS price delivery
✘ No Kenya coverage
✘ No history/trends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85416" y="3749039"/>
            <a:ext cx="3794760" cy="214884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85416" y="3749039"/>
            <a:ext cx="3794760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58568" y="3785615"/>
            <a:ext cx="3648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E-NAM (India)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76856" y="4151376"/>
            <a:ext cx="3611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✔ GIS price maps
✘ Requires APMC mandis
✘ Not Kenya-adapted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87952" y="3749039"/>
            <a:ext cx="3794760" cy="214884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87952" y="3749039"/>
            <a:ext cx="3794760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61104" y="3785615"/>
            <a:ext cx="3648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Academic Protos.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4151376"/>
            <a:ext cx="3611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✔ Proof of concept
✘ Single crop/county
✘ Not deployed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640080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4731"/>
                </a:solidFill>
                <a:latin typeface="Calibri"/>
              </a:rPr>
              <a:t>✦  AMPT addresses ALL gaps identified above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1052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AMPT — Agricultural Market Price Tracker  |  Chuka University  |  COSC 381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Proposed Solution — AgriPrice 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  <a:latin typeface="Calibri"/>
              </a:rPr>
              <a:t>A centralised, role-based web platform for Kenyan agricultural market prices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371600"/>
            <a:ext cx="3703320" cy="141732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371600"/>
            <a:ext cx="3703320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408176"/>
            <a:ext cx="3557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 User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73936"/>
            <a:ext cx="3520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Admin · Market Agent · Farmer · Trader · Consumer
Role-based permissions — only verified Agents enter prices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95928" y="1371600"/>
            <a:ext cx="3703320" cy="141732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95928" y="1371600"/>
            <a:ext cx="3703320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408176"/>
            <a:ext cx="3557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35+ Commodities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1773936"/>
            <a:ext cx="3520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Cereals, Legumes, Vegetables, Fruits, Livestock,
Dairy, Poultry, Root Crops &amp; Cash Crops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08975" y="1371600"/>
            <a:ext cx="3703320" cy="141732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08975" y="1371600"/>
            <a:ext cx="3703320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7" y="1408176"/>
            <a:ext cx="3557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29+ Markets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5" y="1773936"/>
            <a:ext cx="3520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Across 8 Kenyan regions — from Wakulima &amp; Gikomba
to Kisumu, Mombasa, Nakuru and beyond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898648"/>
            <a:ext cx="3703320" cy="141732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2898648"/>
            <a:ext cx="3703320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2935224"/>
            <a:ext cx="3557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Real-Time Prices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300984"/>
            <a:ext cx="3520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Daily market agent submissions with automated
anomaly detection (&gt;40% deviation flagged)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95928" y="2898648"/>
            <a:ext cx="3703320" cy="141732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95928" y="2898648"/>
            <a:ext cx="3703320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2935224"/>
            <a:ext cx="3557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Trend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7368" y="3300984"/>
            <a:ext cx="3520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Interactive Chart.js line graphs over 30 / 90 / 180-day
windows for any product-market combination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08975" y="2898648"/>
            <a:ext cx="3703320" cy="141732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08975" y="2898648"/>
            <a:ext cx="3703320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2127" y="2935224"/>
            <a:ext cx="3557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Price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0415" y="3300984"/>
            <a:ext cx="3520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User-configurable ABOVE/BELOW threshold alerts
with in-app and email notifications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1052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AMPT — Agricultural Market Price Tracker  |  Chuka University  |  COSC 381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Methodology &amp;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  <a:latin typeface="Calibri"/>
              </a:rPr>
              <a:t>Iterative &amp; Incremental Development (IID) — 4 phases over 13 weeks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2011680" cy="7772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389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A261"/>
                </a:solidFill>
                <a:latin typeface="Calibri"/>
              </a:rPr>
              <a:t>Weeks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6642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Proposal
Writing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5087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4731"/>
                </a:solidFill>
                <a:latin typeface="Calibri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371600"/>
            <a:ext cx="2011680" cy="7772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389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A261"/>
                </a:solidFill>
                <a:latin typeface="Calibri"/>
              </a:rPr>
              <a:t>Weeks 4–6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6642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Requirements
Analysis (OOA)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5087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4731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1371600"/>
            <a:ext cx="2011680" cy="7772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389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A261"/>
                </a:solidFill>
                <a:latin typeface="Calibri"/>
              </a:rPr>
              <a:t>Weeks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6642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System
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5087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4731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371600"/>
            <a:ext cx="2011680" cy="7772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389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A261"/>
                </a:solidFill>
                <a:latin typeface="Calibri"/>
              </a:rPr>
              <a:t>Weeks 9–12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6642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Implementation
&amp;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15087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4731"/>
                </a:solidFill>
                <a:latin typeface="Calibri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1371600"/>
            <a:ext cx="2011680" cy="7772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1389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A261"/>
                </a:solidFill>
                <a:latin typeface="Calibri"/>
              </a:rPr>
              <a:t>Week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16642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Presentation
&amp; Submission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331720"/>
            <a:ext cx="5669280" cy="416052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331720"/>
            <a:ext cx="5669280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3591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urier New"/>
              </a:rPr>
              <a:t>Language:    Java SE 17 (Servlets + JSP)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3154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urier New"/>
              </a:rPr>
              <a:t>Pattern:     MVC (Model-View-Controller)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urier New"/>
              </a:rPr>
              <a:t>DB:          PostgreSQL 16 via JDBC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9776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urier New"/>
              </a:rPr>
              <a:t>Server:      Apache Tomcat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urier New"/>
              </a:rPr>
              <a:t>Build:       Apache Maven 3.8+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urier New"/>
              </a:rPr>
              <a:t>Frontend:    HTML5 · CSS3 · Vanilla JS ES6+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urier New"/>
              </a:rPr>
              <a:t>Charts:      Chart.js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2331720"/>
            <a:ext cx="5833872" cy="416052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2331720"/>
            <a:ext cx="5833872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235915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Development &amp; Testing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743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urier New"/>
              </a:rPr>
              <a:t>IDE:          IntelliJ IDEA / VS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1546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urier New"/>
              </a:rPr>
              <a:t>Version Ctrl: Git &amp; GitHub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urier New"/>
              </a:rPr>
              <a:t>API Testing:  Postman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977639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urier New"/>
              </a:rPr>
              <a:t>Unit Tests:   JUnit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389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urier New"/>
              </a:rPr>
              <a:t>Diagrams:     draw.io / StarUML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800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urier New"/>
              </a:rPr>
              <a:t>Security:     PreparedStatement (SQL injection)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212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urier New"/>
              </a:rPr>
              <a:t>Passwords:    bcrypt hashing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1052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AMPT — Agricultural Market Price Tracker  |  Chuka University  |  COSC 381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Requirements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  <a:latin typeface="Calibri"/>
              </a:rPr>
              <a:t>Object-Oriented Analysis (OOA) — Use Cases · Domain Model · Functional &amp; Non-Functional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7223760" cy="498348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7223760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99032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Functional Requirements  (FR1–FR28)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8308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FR01  User registration, login &amp; role-based session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231136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FR02  5-role RBAC: Admin / Agent / Farmer / Trader / Consumer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679191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FR03  Market Agent price entry with UPSERT &amp; anomaly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127248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FR04  Price listing with case-insensitive filter (crop, market, region, date)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575304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FR05  Multi-market price comparison for any commodity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02336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FR06  Time-series trend charts (30 / 90 / 180-day windows)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471416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FR07  Configurable ABOVE/BELOW price alerts per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919472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FR08  Summary reports &amp; CSV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367528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FR09  Admin CRUD: products, markets, users, 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815584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FR10  Audit log for all data changes (actor, action, timestamp)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62672" y="1371600"/>
            <a:ext cx="4297680" cy="365760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62672" y="1371600"/>
            <a:ext cx="4297680" cy="347472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2" y="13990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Non-Functional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1783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NFR1  Performance: page response ≤ 3 s (50 concurrent users)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232257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NFR2  Security: PreparedStatement · bcrypt passwords · session 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286207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NFR3  Usability: responsive mobile-first UI; clear form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2" y="340156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NFR4  Reliability: try-with-resources — no connection leaks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3941063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NFR5  Maintainability: MVC separation; external db.properties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4480559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NFR6  Scalability: normalised schema — extend without restructuring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62672" y="5138928"/>
            <a:ext cx="4297680" cy="1216152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5138928"/>
            <a:ext cx="4297680" cy="2743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515721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Domain Requirements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544068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All prices in KES · ISO 8601 dates
9 EAC commodity categories
Kenyan market conventions for units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AMPT — Agricultural Market Price Tracker  |  Chuka University  |  COSC 381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Design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  <a:latin typeface="Calibri"/>
              </a:rPr>
              <a:t>Three-Tier MVC Architecture · Database Design · UML Use Case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5349240" cy="96012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5349240" cy="30175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3560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TIER 1 — CLIENT (Browser)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64792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HTML5  ·  CSS3  ·  Vanilla JS  ·  Chart.js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▼  JDBC / HTTP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14600"/>
            <a:ext cx="5349240" cy="960120"/>
          </a:xfrm>
          <a:prstGeom prst="rect">
            <a:avLst/>
          </a:prstGeom>
          <a:solidFill>
            <a:srgbClr val="B7E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514600"/>
            <a:ext cx="5349240" cy="301752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53288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TIER 2 — APPLICATION (Apache Tomcat 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862072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Controller: Java Servlets (14)  |  View: JSP + JSTL (14)  |  Model: Java POJOs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930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▼  JDBC / HTTP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611880"/>
            <a:ext cx="5349240" cy="960120"/>
          </a:xfrm>
          <a:prstGeom prst="rect">
            <a:avLst/>
          </a:prstGeom>
          <a:solidFill>
            <a:srgbClr val="74C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611880"/>
            <a:ext cx="5349240" cy="301752"/>
          </a:xfrm>
          <a:prstGeom prst="rect">
            <a:avLst/>
          </a:prstGeom>
          <a:solidFill>
            <a:srgbClr val="409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63016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TIER 3 — DATABASE (PostgreSQL 16)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959352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12 tables: regions · markets · products · users · price_entries · price_alerts · audit_logs 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1417320"/>
            <a:ext cx="6126480" cy="493776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06440" y="1417320"/>
            <a:ext cx="6126480" cy="3200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143560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UML Use Case Diagram — AMPT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1801368"/>
            <a:ext cx="6035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urier New"/>
              </a:rPr>
              <a:t>  ┌────────────────────────────────────────┐
  │           &lt;&lt;System&gt;&gt;  AMPT             │
  │                                        │
  │  (Login)          (Enter Price)        │
  │  (Register)       (Edit Price)         │
  │  (View Dashboard) (View Price List)    │
  │  (Compare Prices) (View Trends)        │
  │  (Manage Alerts)  (Generate Report)    │
  │  (Manage Products/Markets/Users)       │
  └────────────────────────────────────────┘
        ▲            ▲              ▲
  [All Users]  [Market Agent]   [Admin]
                                    ▲
                           [External API]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4709160"/>
            <a:ext cx="5349240" cy="1508760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4709160"/>
            <a:ext cx="5349240" cy="2743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727448"/>
            <a:ext cx="5166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Key DB Tables &amp; Indexes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010912"/>
            <a:ext cx="5166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price_entries: UNIQUE(product_id, market_id, price_date)  +  UPSERT
INDEX idx_price_lookup ON price_entries(product_id, market_id, price_date)
Seed data: 8 regions · 29 markets · 35 commodities · 9 categories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1052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AMPT — Agricultural Market Price Tracker  |  Chuka University  |  COSC 381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Implementation &amp;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  <a:latin typeface="Calibri"/>
              </a:rPr>
              <a:t>Java SE 17 · AlgorithmUtils class · Testing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4114800" cy="489204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4114800" cy="3200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3560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Java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2880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Generics (List&lt;String[]&gt;)  — type-safe JDBC result collections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4203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Try-with-resources         — prevents DB connection leaks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55264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PreparedStatement          — SQL injection prevention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968496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@WebServlet annotation     — declarative URL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681728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BigDecimal                 — precise financial arithmetic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394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HttpSession                — user authentication 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1417320"/>
            <a:ext cx="4297680" cy="489204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80" y="1417320"/>
            <a:ext cx="4297680" cy="3200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4356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AlgorithmUtils — Implemented Algorithms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18288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731"/>
                </a:solidFill>
                <a:latin typeface="Calibri"/>
              </a:rPr>
              <a:t>Algorithm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1828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731"/>
                </a:solidFill>
                <a:latin typeface="Calibri"/>
              </a:rPr>
              <a:t>Complexity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8288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731"/>
                </a:solidFill>
                <a:latin typeface="Calibri"/>
              </a:rPr>
              <a:t>Use in AMPT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148840"/>
            <a:ext cx="4297680" cy="77724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221992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Linear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2221992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O(n)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221992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Unsorted product name lookup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2944368"/>
            <a:ext cx="42976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0175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Binary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01752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O(log 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01752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Sorted market list &amp; date arrays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3739896"/>
            <a:ext cx="4297680" cy="77724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813048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Bubble Sort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813048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O(n²)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81304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Small anomaly-detection arrays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4535424"/>
            <a:ext cx="42976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4608576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Quick Sort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608576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O(n log 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608576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Large datasets &amp; median calc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6280" y="5330952"/>
            <a:ext cx="4297680" cy="77724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5404104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Min/Max Finder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5404104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O(n)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404104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Report range statistics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06840" y="1417320"/>
            <a:ext cx="2953512" cy="489204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06840" y="1417320"/>
            <a:ext cx="2953512" cy="3200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8280" y="1435608"/>
            <a:ext cx="2770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Testing Strategy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1874519"/>
            <a:ext cx="27706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Unit: JUnit tests on AlgorithmUtils (linearSearch, binarySearch, bubbleSort, quickSort)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2971800"/>
            <a:ext cx="27706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Integration: End-to-end workflows on Tomcat against test PostgreSQL DB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4069079"/>
            <a:ext cx="27706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Security: SQL injection · session bypass · role bypass attempts — all blocked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5166359"/>
            <a:ext cx="27706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UAT: Login/register · price entry · comparison · alerts · reports · admin CRUD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1052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AMPT — Agricultural Market Price Tracker  |  Chuka University  |  COSC 381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F3DC"/>
                </a:solidFill>
                <a:latin typeface="Calibri"/>
              </a:rPr>
              <a:t>Summary of achievements and future enhancements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7086600" cy="489204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7086600" cy="347472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44752"/>
            <a:ext cx="690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✔  Objectives Achieved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47088"/>
            <a:ext cx="6903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✔  Comprehensive requirements analysis — 28 FR + 13 NFR via OOA &amp; use case modelling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78608"/>
            <a:ext cx="6903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✔  Normalised PostgreSQL schema — 12 tables, 8 regions, 35 commodities, 29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310128"/>
            <a:ext cx="6903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✔  Role-based Java MVC web app — 14 Servlet controllers, 14 JSP views, 6 model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041648"/>
            <a:ext cx="6903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✔  Full analytical suite — price comparison, Chart.js trends, alerts, CSV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73168"/>
            <a:ext cx="6903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✔  5 algorithms implemented in Java — with complexity analysis &amp; JUnit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504688"/>
            <a:ext cx="6903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✔  Validated via unit · integration · security · UAT testing cycles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25512" y="1417320"/>
            <a:ext cx="4434840" cy="4892040"/>
          </a:xfrm>
          <a:prstGeom prst="rect">
            <a:avLst/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25512" y="1417320"/>
            <a:ext cx="4434840" cy="347472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144475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Future 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47088"/>
            <a:ext cx="4251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→  Africa's Talking SMS integration for farmer notifications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2487168"/>
            <a:ext cx="4251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→  Progressive Web App (PWA) / Android mobile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3127248"/>
            <a:ext cx="4251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→  Automated county govt. data collection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3767327"/>
            <a:ext cx="4251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→  Z-score anomaly detection for is_anomaly flag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4407408"/>
            <a:ext cx="4251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→  Kiswahili localisation for broader rural accessibility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5047488"/>
            <a:ext cx="4251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→  HikariCP connection pooling for production scalability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5687567"/>
            <a:ext cx="4251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→  Cloud deployment (AWS / Safaricom Cloud)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63640"/>
            <a:ext cx="12188952" cy="22860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6281928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Key References: World Bank (2022) · CA Kenya (2024) · Sommerville (2016) · Larman (2004) · Pressman &amp; Maxim (2020)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AMPT — Agricultural Market Price Tracker  |  Chuka University  |  COSC 381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